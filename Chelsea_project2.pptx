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60" r:id="rId3"/>
    <p:sldId id="257" r:id="rId4"/>
    <p:sldId id="261" r:id="rId5"/>
    <p:sldId id="262" r:id="rId6"/>
    <p:sldId id="259" r:id="rId7"/>
    <p:sldId id="258"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FAA18F-0FFC-6A6A-D14C-1D649CB3FA9F}" v="732" dt="2025-11-17T15:41:06.477"/>
    <p1510:client id="{85B1CD4F-095D-A94B-8C68-203C7C42718C}" v="1624" dt="2025-11-17T04:47:06.917"/>
    <p1510:client id="{9CAE5E15-E84A-A821-20FE-F75948CFFD3C}" v="13" dt="2025-11-17T15:25:47.354"/>
    <p1510:client id="{A35575A6-5045-43AD-E1C0-62B2541E3FF0}" v="313" dt="2025-11-17T05:19:15.869"/>
    <p1510:client id="{BC8FFF88-B071-13D7-15E8-E3AFA77583B1}" v="5" dt="2025-11-17T16:18:49.0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32"/>
    <p:restoredTop sz="94781"/>
  </p:normalViewPr>
  <p:slideViewPr>
    <p:cSldViewPr snapToGrid="0">
      <p:cViewPr varScale="1">
        <p:scale>
          <a:sx n="96" d="100"/>
          <a:sy n="96"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6A9C45-C60F-0249-84C2-9FC46ECB34A6}" type="datetimeFigureOut">
              <a:rPr lang="en-US" smtClean="0"/>
              <a:t>12/3/25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282F6-8BAC-8C46-A292-53FE289331A7}" type="slidenum">
              <a:rPr lang="en-US" smtClean="0"/>
              <a:t>‹#›</a:t>
            </a:fld>
            <a:endParaRPr lang="en-US"/>
          </a:p>
        </p:txBody>
      </p:sp>
    </p:spTree>
    <p:extLst>
      <p:ext uri="{BB962C8B-B14F-4D97-AF65-F5344CB8AC3E}">
        <p14:creationId xmlns:p14="http://schemas.microsoft.com/office/powerpoint/2010/main" val="1972705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07282F6-8BAC-8C46-A292-53FE289331A7}" type="slidenum">
              <a:rPr lang="en-US" smtClean="0"/>
              <a:t>2</a:t>
            </a:fld>
            <a:endParaRPr lang="en-US"/>
          </a:p>
        </p:txBody>
      </p:sp>
    </p:spTree>
    <p:extLst>
      <p:ext uri="{BB962C8B-B14F-4D97-AF65-F5344CB8AC3E}">
        <p14:creationId xmlns:p14="http://schemas.microsoft.com/office/powerpoint/2010/main" val="1757613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8504F-8760-567D-008B-4A5C95D15C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843F68-28E2-C6E4-7808-FFCB534253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3D0A75-E2CE-1FBA-4660-29970E15A0A8}"/>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5" name="Footer Placeholder 4">
            <a:extLst>
              <a:ext uri="{FF2B5EF4-FFF2-40B4-BE49-F238E27FC236}">
                <a16:creationId xmlns:a16="http://schemas.microsoft.com/office/drawing/2014/main" id="{FBCB3A82-F154-C017-72A3-67619A8BFA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766404-CE6B-A56D-6F48-03B35B606CC1}"/>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2587404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9FA2A-7104-3EA4-FCF9-2DDF0547C3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3B0872-8B69-ACA9-C78E-F30DBBEE290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199782-2FEB-1186-A968-E5333C8585EB}"/>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5" name="Footer Placeholder 4">
            <a:extLst>
              <a:ext uri="{FF2B5EF4-FFF2-40B4-BE49-F238E27FC236}">
                <a16:creationId xmlns:a16="http://schemas.microsoft.com/office/drawing/2014/main" id="{EFD43343-16F6-D373-780D-630ADC831A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416ED6-1C11-55A2-443F-2CA9A1F61F14}"/>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3089309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EAB02-2C33-FCC4-9E44-1D7F4D4838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40A83B-8C20-D283-C857-33EC5B831D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D573AA-3E1D-A98F-7C96-63409AD6BB84}"/>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5" name="Footer Placeholder 4">
            <a:extLst>
              <a:ext uri="{FF2B5EF4-FFF2-40B4-BE49-F238E27FC236}">
                <a16:creationId xmlns:a16="http://schemas.microsoft.com/office/drawing/2014/main" id="{7ABA4C0B-7847-B2AC-F5E0-B78795C9AA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669CC6-2229-07DC-3A57-BD9EFED34E8B}"/>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42252433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E7F0B-E49E-2850-46FD-4D8978600B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ADE8106-DD0C-94D7-5059-00444AE273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DB99B-6753-A3DA-4B6E-DB8D33FA89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0F19C8-64F3-962A-7071-C9459CE8D05F}"/>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6" name="Footer Placeholder 5">
            <a:extLst>
              <a:ext uri="{FF2B5EF4-FFF2-40B4-BE49-F238E27FC236}">
                <a16:creationId xmlns:a16="http://schemas.microsoft.com/office/drawing/2014/main" id="{F6E47F98-90FC-0AD0-872E-B56E33F6DB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ACB45F8-B385-0091-3D93-FA4017362A43}"/>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8469199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7C8C1-3AB2-98EF-9928-AFCDDF0F9B7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6371135-1512-7B64-627B-6DE0B61C57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BC0723-EB81-4C67-3FD3-5A65011991E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C48DE2-3531-ADCF-D5F5-2A6C3D66F0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451241-0EF4-A76F-8A94-F2684792E00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A1683A2-3FA6-675C-FBD4-86CC0D5E98B4}"/>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8" name="Footer Placeholder 7">
            <a:extLst>
              <a:ext uri="{FF2B5EF4-FFF2-40B4-BE49-F238E27FC236}">
                <a16:creationId xmlns:a16="http://schemas.microsoft.com/office/drawing/2014/main" id="{98427558-597C-7DB0-CF78-A4FA571C17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E63AA5-F581-B30F-FBE2-C5272858C774}"/>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1837787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53E8D-BD1E-ED06-C267-7C2E2CB677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A7D4E2F-D64D-7649-06EA-8559CE04AFFD}"/>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4" name="Footer Placeholder 3">
            <a:extLst>
              <a:ext uri="{FF2B5EF4-FFF2-40B4-BE49-F238E27FC236}">
                <a16:creationId xmlns:a16="http://schemas.microsoft.com/office/drawing/2014/main" id="{FBFD1431-5A78-B619-6709-918F9B153A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149D00E-649C-2BFA-7EA6-BCFF1B6D1A70}"/>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1015113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2D1359-331B-E55A-887A-A92C46FE693A}"/>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3" name="Footer Placeholder 2">
            <a:extLst>
              <a:ext uri="{FF2B5EF4-FFF2-40B4-BE49-F238E27FC236}">
                <a16:creationId xmlns:a16="http://schemas.microsoft.com/office/drawing/2014/main" id="{EF4F5B90-5889-26C9-0057-39A9C26D4FA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DA8DD1-DE1F-1784-4824-B1BF4B03B2D3}"/>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18202693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4C3B98-7220-52E9-527D-67495BB998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D13E220-FDFC-4BA1-27F4-85036ED9D2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768244-BF2E-3FC3-9A14-7C433AD544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B1A4E2-2CC8-B2EB-C415-2382BF9F4F8B}"/>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6" name="Footer Placeholder 5">
            <a:extLst>
              <a:ext uri="{FF2B5EF4-FFF2-40B4-BE49-F238E27FC236}">
                <a16:creationId xmlns:a16="http://schemas.microsoft.com/office/drawing/2014/main" id="{43835AC3-017B-8628-CF3B-E0DC8D58EC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015B11-43B8-4FBF-8386-CE25E1E6BD8F}"/>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753281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C86AF-A81E-8115-C482-CCB1BA9F09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C69485-4E2A-FF27-2383-52CC78F348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0133B11-19AC-8FD9-B38B-F4906E24DC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FEC223-7651-C337-74E4-B0D873BE3BAC}"/>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6" name="Footer Placeholder 5">
            <a:extLst>
              <a:ext uri="{FF2B5EF4-FFF2-40B4-BE49-F238E27FC236}">
                <a16:creationId xmlns:a16="http://schemas.microsoft.com/office/drawing/2014/main" id="{40466F87-7E82-AB29-A63C-5753E23B3F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4E8B0BE-BA78-52A2-8FED-E731A1F09534}"/>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17389708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9636F-2EF5-854C-E264-BABA60BE78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6428D67-EEF6-A0F6-1176-1EB50EB19ED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0D6298-8477-B7A0-FBAA-65D5875180E1}"/>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5" name="Footer Placeholder 4">
            <a:extLst>
              <a:ext uri="{FF2B5EF4-FFF2-40B4-BE49-F238E27FC236}">
                <a16:creationId xmlns:a16="http://schemas.microsoft.com/office/drawing/2014/main" id="{9D208183-1BFF-4D8A-0DBC-E6688BC401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01135C-C00E-0020-B0CA-D95B73CE5FDD}"/>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125041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B6BA52F-EDD9-2607-E737-1BA8FC0A89F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4226899-EA89-A7D4-799C-12CE3E5220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4EC4CF-845E-6F7C-CBF2-123A44C5A4BC}"/>
              </a:ext>
            </a:extLst>
          </p:cNvPr>
          <p:cNvSpPr>
            <a:spLocks noGrp="1"/>
          </p:cNvSpPr>
          <p:nvPr>
            <p:ph type="dt" sz="half" idx="10"/>
          </p:nvPr>
        </p:nvSpPr>
        <p:spPr/>
        <p:txBody>
          <a:bodyPr/>
          <a:lstStyle/>
          <a:p>
            <a:fld id="{438BE32B-0C14-674F-BA07-C4AC7371F527}" type="datetimeFigureOut">
              <a:rPr lang="en-US" smtClean="0"/>
              <a:t>12/3/25</a:t>
            </a:fld>
            <a:endParaRPr lang="en-US"/>
          </a:p>
        </p:txBody>
      </p:sp>
      <p:sp>
        <p:nvSpPr>
          <p:cNvPr id="5" name="Footer Placeholder 4">
            <a:extLst>
              <a:ext uri="{FF2B5EF4-FFF2-40B4-BE49-F238E27FC236}">
                <a16:creationId xmlns:a16="http://schemas.microsoft.com/office/drawing/2014/main" id="{7F00C58B-3E03-5B0F-8446-2531ECEA63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48C26-E27E-222C-9D96-75C3D38A32BA}"/>
              </a:ext>
            </a:extLst>
          </p:cNvPr>
          <p:cNvSpPr>
            <a:spLocks noGrp="1"/>
          </p:cNvSpPr>
          <p:nvPr>
            <p:ph type="sldNum" sz="quarter" idx="12"/>
          </p:nvPr>
        </p:nvSpPr>
        <p:spPr/>
        <p:txBody>
          <a:bodyPr/>
          <a:lstStyle/>
          <a:p>
            <a:fld id="{937EA619-D41F-604E-92A1-DC329B7CD7A8}" type="slidenum">
              <a:rPr lang="en-US" smtClean="0"/>
              <a:t>‹#›</a:t>
            </a:fld>
            <a:endParaRPr lang="en-US"/>
          </a:p>
        </p:txBody>
      </p:sp>
    </p:spTree>
    <p:extLst>
      <p:ext uri="{BB962C8B-B14F-4D97-AF65-F5344CB8AC3E}">
        <p14:creationId xmlns:p14="http://schemas.microsoft.com/office/powerpoint/2010/main" val="2669928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C656F5-AB37-D245-B26D-E3491A8856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D33369-49F2-1D27-EEB4-48D19A9668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37CBC6-7E71-226F-09E3-A4C3E297457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38BE32B-0C14-674F-BA07-C4AC7371F527}" type="datetimeFigureOut">
              <a:rPr lang="en-US" smtClean="0"/>
              <a:t>12/3/25</a:t>
            </a:fld>
            <a:endParaRPr lang="en-US"/>
          </a:p>
        </p:txBody>
      </p:sp>
      <p:sp>
        <p:nvSpPr>
          <p:cNvPr id="5" name="Footer Placeholder 4">
            <a:extLst>
              <a:ext uri="{FF2B5EF4-FFF2-40B4-BE49-F238E27FC236}">
                <a16:creationId xmlns:a16="http://schemas.microsoft.com/office/drawing/2014/main" id="{F0615219-CCB0-5AE3-E3EC-E399D93475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52D62D6-8921-3D7E-58E5-B6BD491939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7EA619-D41F-604E-92A1-DC329B7CD7A8}" type="slidenum">
              <a:rPr lang="en-US" smtClean="0"/>
              <a:t>‹#›</a:t>
            </a:fld>
            <a:endParaRPr lang="en-US"/>
          </a:p>
        </p:txBody>
      </p:sp>
    </p:spTree>
    <p:extLst>
      <p:ext uri="{BB962C8B-B14F-4D97-AF65-F5344CB8AC3E}">
        <p14:creationId xmlns:p14="http://schemas.microsoft.com/office/powerpoint/2010/main" val="34234171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9627"/>
            <a:lum/>
          </a:blip>
          <a:srcRect/>
          <a:stretch>
            <a:fillRect t="-24000" b="-24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E062F-646D-5821-F424-7CD6137BE38A}"/>
              </a:ext>
            </a:extLst>
          </p:cNvPr>
          <p:cNvSpPr>
            <a:spLocks noGrp="1"/>
          </p:cNvSpPr>
          <p:nvPr>
            <p:ph type="ctrTitle"/>
          </p:nvPr>
        </p:nvSpPr>
        <p:spPr/>
        <p:txBody>
          <a:bodyPr/>
          <a:lstStyle/>
          <a:p>
            <a:r>
              <a:rPr lang="en-US" dirty="0">
                <a:latin typeface="Sylfaen" panose="010A0502050306030303" pitchFamily="18" charset="0"/>
              </a:rPr>
              <a:t>Group 4 – Civil Leaders</a:t>
            </a:r>
          </a:p>
        </p:txBody>
      </p:sp>
      <p:sp>
        <p:nvSpPr>
          <p:cNvPr id="3" name="Subtitle 2">
            <a:extLst>
              <a:ext uri="{FF2B5EF4-FFF2-40B4-BE49-F238E27FC236}">
                <a16:creationId xmlns:a16="http://schemas.microsoft.com/office/drawing/2014/main" id="{5EFBB29D-3EBC-9468-D067-084010027053}"/>
              </a:ext>
            </a:extLst>
          </p:cNvPr>
          <p:cNvSpPr>
            <a:spLocks noGrp="1"/>
          </p:cNvSpPr>
          <p:nvPr>
            <p:ph type="subTitle" idx="1"/>
          </p:nvPr>
        </p:nvSpPr>
        <p:spPr/>
        <p:txBody>
          <a:bodyPr/>
          <a:lstStyle/>
          <a:p>
            <a:r>
              <a:rPr lang="en-US" dirty="0">
                <a:latin typeface="Sylfaen" pitchFamily="18" charset="0"/>
                <a:cs typeface="Calibri" panose="020F0502020204030204" pitchFamily="34" charset="0"/>
              </a:rPr>
              <a:t>Project 2 Part 2 Presentation - Demographic Data</a:t>
            </a:r>
          </a:p>
        </p:txBody>
      </p:sp>
    </p:spTree>
    <p:extLst>
      <p:ext uri="{BB962C8B-B14F-4D97-AF65-F5344CB8AC3E}">
        <p14:creationId xmlns:p14="http://schemas.microsoft.com/office/powerpoint/2010/main" val="25540628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19627"/>
            <a:lum/>
          </a:blip>
          <a:srcRect/>
          <a:stretch>
            <a:fillRect l="-6000" r="-6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A0A7A-38E3-574F-F60A-D35BE616D9E5}"/>
              </a:ext>
            </a:extLst>
          </p:cNvPr>
          <p:cNvSpPr>
            <a:spLocks noGrp="1"/>
          </p:cNvSpPr>
          <p:nvPr>
            <p:ph type="title"/>
          </p:nvPr>
        </p:nvSpPr>
        <p:spPr/>
        <p:txBody>
          <a:bodyPr/>
          <a:lstStyle/>
          <a:p>
            <a:r>
              <a:rPr lang="en-US" dirty="0">
                <a:latin typeface="Sylfaen" pitchFamily="18" charset="0"/>
              </a:rPr>
              <a:t>Dataset</a:t>
            </a:r>
          </a:p>
        </p:txBody>
      </p:sp>
      <p:sp>
        <p:nvSpPr>
          <p:cNvPr id="4" name="Content Placeholder 3">
            <a:extLst>
              <a:ext uri="{FF2B5EF4-FFF2-40B4-BE49-F238E27FC236}">
                <a16:creationId xmlns:a16="http://schemas.microsoft.com/office/drawing/2014/main" id="{50E59F5B-7744-DEA7-FA8B-724FE2147BD0}"/>
              </a:ext>
            </a:extLst>
          </p:cNvPr>
          <p:cNvSpPr>
            <a:spLocks noGrp="1"/>
          </p:cNvSpPr>
          <p:nvPr>
            <p:ph idx="1"/>
          </p:nvPr>
        </p:nvSpPr>
        <p:spPr/>
        <p:txBody>
          <a:bodyPr>
            <a:normAutofit fontScale="92500" lnSpcReduction="20000"/>
          </a:bodyPr>
          <a:lstStyle/>
          <a:p>
            <a:pPr marL="0" indent="0">
              <a:buNone/>
            </a:pPr>
            <a:r>
              <a:rPr lang="en-US" b="1" dirty="0">
                <a:latin typeface="Sylfaen" pitchFamily="18" charset="0"/>
              </a:rPr>
              <a:t>Categories within the Dataset…</a:t>
            </a:r>
          </a:p>
          <a:p>
            <a:pPr>
              <a:buFont typeface="Wingdings" pitchFamily="2" charset="2"/>
              <a:buChar char="§"/>
            </a:pPr>
            <a:r>
              <a:rPr lang="en-US" dirty="0">
                <a:latin typeface="Sylfaen" pitchFamily="18" charset="0"/>
              </a:rPr>
              <a:t>Demographic Data</a:t>
            </a:r>
          </a:p>
          <a:p>
            <a:pPr lvl="1">
              <a:buFont typeface="Wingdings" pitchFamily="2" charset="2"/>
              <a:buChar char="§"/>
            </a:pPr>
            <a:r>
              <a:rPr lang="en-US" dirty="0">
                <a:latin typeface="Sylfaen" pitchFamily="18" charset="0"/>
              </a:rPr>
              <a:t>Population/Population growth</a:t>
            </a:r>
          </a:p>
          <a:p>
            <a:pPr lvl="1">
              <a:buFont typeface="Wingdings" pitchFamily="2" charset="2"/>
              <a:buChar char="§"/>
            </a:pPr>
            <a:r>
              <a:rPr lang="en-US" dirty="0">
                <a:latin typeface="Sylfaen" pitchFamily="18" charset="0"/>
              </a:rPr>
              <a:t>Median age</a:t>
            </a:r>
          </a:p>
          <a:p>
            <a:pPr lvl="1">
              <a:buFont typeface="Wingdings" pitchFamily="2" charset="2"/>
              <a:buChar char="§"/>
            </a:pPr>
            <a:r>
              <a:rPr lang="en-US" dirty="0">
                <a:latin typeface="Sylfaen" pitchFamily="18" charset="0"/>
              </a:rPr>
              <a:t>Sex ratio</a:t>
            </a:r>
          </a:p>
          <a:p>
            <a:pPr>
              <a:buFont typeface="Wingdings" pitchFamily="2" charset="2"/>
              <a:buChar char="§"/>
            </a:pPr>
            <a:r>
              <a:rPr lang="en-US" dirty="0">
                <a:latin typeface="Sylfaen" pitchFamily="18" charset="0"/>
              </a:rPr>
              <a:t>Health Data</a:t>
            </a:r>
          </a:p>
          <a:p>
            <a:pPr lvl="1">
              <a:buFont typeface="Wingdings" pitchFamily="2" charset="2"/>
              <a:buChar char="§"/>
            </a:pPr>
            <a:r>
              <a:rPr lang="en-US" dirty="0">
                <a:latin typeface="Sylfaen" pitchFamily="18" charset="0"/>
              </a:rPr>
              <a:t>Fertility</a:t>
            </a:r>
          </a:p>
          <a:p>
            <a:pPr lvl="1">
              <a:buFont typeface="Wingdings" pitchFamily="2" charset="2"/>
              <a:buChar char="§"/>
            </a:pPr>
            <a:r>
              <a:rPr lang="en-US" dirty="0">
                <a:latin typeface="Sylfaen" pitchFamily="18" charset="0"/>
              </a:rPr>
              <a:t>Birth rate</a:t>
            </a:r>
          </a:p>
          <a:p>
            <a:pPr lvl="1">
              <a:buFont typeface="Wingdings" pitchFamily="2" charset="2"/>
              <a:buChar char="§"/>
            </a:pPr>
            <a:r>
              <a:rPr lang="en-US" dirty="0">
                <a:latin typeface="Sylfaen" pitchFamily="18" charset="0"/>
              </a:rPr>
              <a:t>Death rate</a:t>
            </a:r>
          </a:p>
          <a:p>
            <a:pPr>
              <a:buFont typeface="Wingdings" pitchFamily="2" charset="2"/>
              <a:buChar char="§"/>
            </a:pPr>
            <a:r>
              <a:rPr lang="en-US" dirty="0">
                <a:latin typeface="Sylfaen" pitchFamily="18" charset="0"/>
              </a:rPr>
              <a:t>Socioeconomic Data</a:t>
            </a:r>
          </a:p>
          <a:p>
            <a:pPr lvl="1">
              <a:buFont typeface="Wingdings" pitchFamily="2" charset="2"/>
              <a:buChar char="§"/>
            </a:pPr>
            <a:r>
              <a:rPr lang="en-US" dirty="0">
                <a:latin typeface="Sylfaen" pitchFamily="18" charset="0"/>
              </a:rPr>
              <a:t>Youth unemployment</a:t>
            </a:r>
          </a:p>
          <a:p>
            <a:pPr lvl="1">
              <a:buFont typeface="Wingdings" pitchFamily="2" charset="2"/>
              <a:buChar char="§"/>
            </a:pPr>
            <a:r>
              <a:rPr lang="en-US" dirty="0">
                <a:latin typeface="Sylfaen" pitchFamily="18" charset="0"/>
              </a:rPr>
              <a:t>Literacy rate</a:t>
            </a:r>
          </a:p>
          <a:p>
            <a:pPr marL="457200" lvl="1" indent="0">
              <a:buNone/>
            </a:pPr>
            <a:endParaRPr lang="en-US" dirty="0"/>
          </a:p>
        </p:txBody>
      </p:sp>
      <p:sp>
        <p:nvSpPr>
          <p:cNvPr id="5" name="Text Placeholder 4">
            <a:extLst>
              <a:ext uri="{FF2B5EF4-FFF2-40B4-BE49-F238E27FC236}">
                <a16:creationId xmlns:a16="http://schemas.microsoft.com/office/drawing/2014/main" id="{FFC2DE51-629A-ED3D-FCF8-2878E1F7EFDB}"/>
              </a:ext>
            </a:extLst>
          </p:cNvPr>
          <p:cNvSpPr>
            <a:spLocks noGrp="1"/>
          </p:cNvSpPr>
          <p:nvPr>
            <p:ph type="body" sz="half" idx="2"/>
          </p:nvPr>
        </p:nvSpPr>
        <p:spPr/>
        <p:txBody>
          <a:bodyPr/>
          <a:lstStyle/>
          <a:p>
            <a:r>
              <a:rPr lang="en-US" dirty="0">
                <a:latin typeface="Sylfaen" pitchFamily="18" charset="0"/>
              </a:rPr>
              <a:t>This dataset is a CIA culmination of demographic data from all recorded countries and territories as of 2025. It includes not only demographic data but also health information, literacy, and migration trends. </a:t>
            </a:r>
          </a:p>
        </p:txBody>
      </p:sp>
    </p:spTree>
    <p:extLst>
      <p:ext uri="{BB962C8B-B14F-4D97-AF65-F5344CB8AC3E}">
        <p14:creationId xmlns:p14="http://schemas.microsoft.com/office/powerpoint/2010/main" val="944487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2" name="Isosceles Triangle 2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aph of a number of people&#10;&#10;AI-generated content may be incorrect.">
            <a:extLst>
              <a:ext uri="{FF2B5EF4-FFF2-40B4-BE49-F238E27FC236}">
                <a16:creationId xmlns:a16="http://schemas.microsoft.com/office/drawing/2014/main" id="{84EF7BAF-2ACF-CC2F-2953-8152DE3C176B}"/>
              </a:ext>
            </a:extLst>
          </p:cNvPr>
          <p:cNvPicPr>
            <a:picLocks noChangeAspect="1"/>
          </p:cNvPicPr>
          <p:nvPr/>
        </p:nvPicPr>
        <p:blipFill>
          <a:blip r:embed="rId2"/>
          <a:stretch>
            <a:fillRect/>
          </a:stretch>
        </p:blipFill>
        <p:spPr>
          <a:xfrm>
            <a:off x="2227204" y="643467"/>
            <a:ext cx="7737591" cy="5571065"/>
          </a:xfrm>
          <a:prstGeom prst="rect">
            <a:avLst/>
          </a:prstGeom>
          <a:ln>
            <a:noFill/>
          </a:ln>
        </p:spPr>
      </p:pic>
      <p:sp>
        <p:nvSpPr>
          <p:cNvPr id="24" name="Isosceles Triangle 2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790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AE9C3-1071-E70D-E99D-7ECF0EE03A91}"/>
              </a:ext>
            </a:extLst>
          </p:cNvPr>
          <p:cNvSpPr>
            <a:spLocks noGrp="1"/>
          </p:cNvSpPr>
          <p:nvPr>
            <p:ph type="title"/>
          </p:nvPr>
        </p:nvSpPr>
        <p:spPr>
          <a:xfrm>
            <a:off x="421257" y="1026483"/>
            <a:ext cx="10515600" cy="1325563"/>
          </a:xfrm>
        </p:spPr>
        <p:txBody>
          <a:bodyPr/>
          <a:lstStyle/>
          <a:p>
            <a:r>
              <a:rPr lang="en-US" dirty="0"/>
              <a:t>Wrangling Process</a:t>
            </a:r>
          </a:p>
        </p:txBody>
      </p:sp>
      <p:pic>
        <p:nvPicPr>
          <p:cNvPr id="5" name="Picture 4" descr="A screenshot of a computer&#10;&#10;AI-generated content may be incorrect.">
            <a:extLst>
              <a:ext uri="{FF2B5EF4-FFF2-40B4-BE49-F238E27FC236}">
                <a16:creationId xmlns:a16="http://schemas.microsoft.com/office/drawing/2014/main" id="{D3A310BF-F3FA-B1F5-187E-90FEA592BD7E}"/>
              </a:ext>
            </a:extLst>
          </p:cNvPr>
          <p:cNvPicPr>
            <a:picLocks noChangeAspect="1"/>
          </p:cNvPicPr>
          <p:nvPr/>
        </p:nvPicPr>
        <p:blipFill>
          <a:blip r:embed="rId2"/>
          <a:stretch>
            <a:fillRect/>
          </a:stretch>
        </p:blipFill>
        <p:spPr>
          <a:xfrm>
            <a:off x="6237084" y="1033603"/>
            <a:ext cx="5578954" cy="5345681"/>
          </a:xfrm>
          <a:prstGeom prst="rect">
            <a:avLst/>
          </a:prstGeom>
        </p:spPr>
      </p:pic>
      <p:sp>
        <p:nvSpPr>
          <p:cNvPr id="6" name="TextBox 5">
            <a:extLst>
              <a:ext uri="{FF2B5EF4-FFF2-40B4-BE49-F238E27FC236}">
                <a16:creationId xmlns:a16="http://schemas.microsoft.com/office/drawing/2014/main" id="{C62046A8-9354-C78D-3186-AF76049AF90C}"/>
              </a:ext>
            </a:extLst>
          </p:cNvPr>
          <p:cNvSpPr txBox="1"/>
          <p:nvPr/>
        </p:nvSpPr>
        <p:spPr>
          <a:xfrm>
            <a:off x="415636" y="1997799"/>
            <a:ext cx="5270608"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In the wrangling stage, we looked at the missing values in multiple variables to help us understand the dataset. Multiple columns had very noticeable gaps like Total Population and Population Growth Rate where there was about 8% missing. There were higher percents in the Total Literacy Rate and Youth unemployment Rate with about 35% &amp; 20% missing respectively. We identified where the dataset was incomplete and took the gaps into account when analyzing the dataframe.</a:t>
            </a:r>
          </a:p>
        </p:txBody>
      </p:sp>
    </p:spTree>
    <p:extLst>
      <p:ext uri="{BB962C8B-B14F-4D97-AF65-F5344CB8AC3E}">
        <p14:creationId xmlns:p14="http://schemas.microsoft.com/office/powerpoint/2010/main" val="3856402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hart of heat map of numeric features&#10;&#10;AI-generated content may be incorrect.">
            <a:extLst>
              <a:ext uri="{FF2B5EF4-FFF2-40B4-BE49-F238E27FC236}">
                <a16:creationId xmlns:a16="http://schemas.microsoft.com/office/drawing/2014/main" id="{D43A1AD7-72A7-3700-E53E-20EFE76B38DC}"/>
              </a:ext>
            </a:extLst>
          </p:cNvPr>
          <p:cNvPicPr>
            <a:picLocks noChangeAspect="1"/>
          </p:cNvPicPr>
          <p:nvPr/>
        </p:nvPicPr>
        <p:blipFill>
          <a:blip r:embed="rId2"/>
          <a:stretch>
            <a:fillRect/>
          </a:stretch>
        </p:blipFill>
        <p:spPr>
          <a:xfrm>
            <a:off x="2286000" y="571500"/>
            <a:ext cx="7620000" cy="5715000"/>
          </a:xfrm>
          <a:prstGeom prst="rect">
            <a:avLst/>
          </a:prstGeom>
        </p:spPr>
      </p:pic>
    </p:spTree>
    <p:extLst>
      <p:ext uri="{BB962C8B-B14F-4D97-AF65-F5344CB8AC3E}">
        <p14:creationId xmlns:p14="http://schemas.microsoft.com/office/powerpoint/2010/main" val="1943460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5DEEA-4880-B247-E004-6AD3B56AC4D0}"/>
              </a:ext>
            </a:extLst>
          </p:cNvPr>
          <p:cNvSpPr>
            <a:spLocks noGrp="1"/>
          </p:cNvSpPr>
          <p:nvPr>
            <p:ph type="title"/>
          </p:nvPr>
        </p:nvSpPr>
        <p:spPr/>
        <p:txBody>
          <a:bodyPr/>
          <a:lstStyle/>
          <a:p>
            <a:r>
              <a:rPr lang="en-US"/>
              <a:t>Key Insights</a:t>
            </a:r>
          </a:p>
        </p:txBody>
      </p:sp>
      <p:pic>
        <p:nvPicPr>
          <p:cNvPr id="3" name="Picture Placeholder 2" descr="A graph of purple dots&#10;&#10;AI-generated content may be incorrect.">
            <a:extLst>
              <a:ext uri="{FF2B5EF4-FFF2-40B4-BE49-F238E27FC236}">
                <a16:creationId xmlns:a16="http://schemas.microsoft.com/office/drawing/2014/main" id="{84E28E25-6702-7A50-D82F-EA3D77063C67}"/>
              </a:ext>
            </a:extLst>
          </p:cNvPr>
          <p:cNvPicPr>
            <a:picLocks noGrp="1" noChangeAspect="1"/>
          </p:cNvPicPr>
          <p:nvPr>
            <p:ph type="pic" idx="1"/>
          </p:nvPr>
        </p:nvPicPr>
        <p:blipFill>
          <a:blip r:embed="rId2"/>
          <a:srcRect l="2508" r="2508"/>
          <a:stretch/>
        </p:blipFill>
        <p:spPr>
          <a:xfrm>
            <a:off x="5183188" y="987425"/>
            <a:ext cx="6172200" cy="4873625"/>
          </a:xfrm>
          <a:prstGeom prst="rect">
            <a:avLst/>
          </a:prstGeom>
        </p:spPr>
      </p:pic>
      <p:sp>
        <p:nvSpPr>
          <p:cNvPr id="5" name="Text Placeholder 4">
            <a:extLst>
              <a:ext uri="{FF2B5EF4-FFF2-40B4-BE49-F238E27FC236}">
                <a16:creationId xmlns:a16="http://schemas.microsoft.com/office/drawing/2014/main" id="{23270C5D-2333-A90B-6B93-95B43B4964AE}"/>
              </a:ext>
            </a:extLst>
          </p:cNvPr>
          <p:cNvSpPr>
            <a:spLocks noGrp="1"/>
          </p:cNvSpPr>
          <p:nvPr>
            <p:ph type="body" sz="half" idx="2"/>
          </p:nvPr>
        </p:nvSpPr>
        <p:spPr/>
        <p:txBody>
          <a:bodyPr vert="horz" lIns="91440" tIns="45720" rIns="91440" bIns="45720" rtlCol="0" anchor="t">
            <a:normAutofit/>
          </a:bodyPr>
          <a:lstStyle/>
          <a:p>
            <a:r>
              <a:rPr lang="en-US"/>
              <a:t>The Dataset is overall a great way to look at the world. Having access to the bigger picture allows the manager of the data to highlight or look at the connect between very similar or different variables. For example, there's the possibility of comparing the Total Fertility Rate to the Infant Mortality Rate. With this dataset the world is your oyster, you just need to know how to manipulate it.</a:t>
            </a:r>
          </a:p>
        </p:txBody>
      </p:sp>
    </p:spTree>
    <p:extLst>
      <p:ext uri="{BB962C8B-B14F-4D97-AF65-F5344CB8AC3E}">
        <p14:creationId xmlns:p14="http://schemas.microsoft.com/office/powerpoint/2010/main" val="3209007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A4136B-89E6-B411-02EA-25DB7AC2AA7B}"/>
              </a:ext>
            </a:extLst>
          </p:cNvPr>
          <p:cNvSpPr>
            <a:spLocks noGrp="1"/>
          </p:cNvSpPr>
          <p:nvPr>
            <p:ph type="title"/>
          </p:nvPr>
        </p:nvSpPr>
        <p:spPr>
          <a:xfrm>
            <a:off x="762000" y="1138036"/>
            <a:ext cx="4085665" cy="1402470"/>
          </a:xfrm>
        </p:spPr>
        <p:txBody>
          <a:bodyPr vert="horz" lIns="91440" tIns="45720" rIns="91440" bIns="45720" rtlCol="0" anchor="t">
            <a:normAutofit/>
          </a:bodyPr>
          <a:lstStyle/>
          <a:p>
            <a:r>
              <a:rPr lang="en-US" dirty="0">
                <a:latin typeface="Sylfaen" pitchFamily="18" charset="0"/>
              </a:rPr>
              <a:t>Issues with the data…</a:t>
            </a:r>
          </a:p>
        </p:txBody>
      </p:sp>
      <p:cxnSp>
        <p:nvCxnSpPr>
          <p:cNvPr id="11" name="Straight Connector 10">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ext Placeholder 4">
            <a:extLst>
              <a:ext uri="{FF2B5EF4-FFF2-40B4-BE49-F238E27FC236}">
                <a16:creationId xmlns:a16="http://schemas.microsoft.com/office/drawing/2014/main" id="{19B1C49E-F98A-F235-AA56-7BE43A0686E1}"/>
              </a:ext>
            </a:extLst>
          </p:cNvPr>
          <p:cNvSpPr>
            <a:spLocks noGrp="1"/>
          </p:cNvSpPr>
          <p:nvPr>
            <p:ph type="body" sz="half" idx="2"/>
          </p:nvPr>
        </p:nvSpPr>
        <p:spPr>
          <a:xfrm>
            <a:off x="762000" y="2551176"/>
            <a:ext cx="4085665" cy="3591207"/>
          </a:xfrm>
        </p:spPr>
        <p:txBody>
          <a:bodyPr vert="horz" lIns="91440" tIns="45720" rIns="91440" bIns="45720" rtlCol="0">
            <a:normAutofit/>
          </a:bodyPr>
          <a:lstStyle/>
          <a:p>
            <a:pPr marL="285750" indent="-228600">
              <a:buFont typeface="Arial" panose="020B0604020202020204" pitchFamily="34" charset="0"/>
              <a:buChar char="•"/>
            </a:pPr>
            <a:r>
              <a:rPr lang="en-US" sz="1400" dirty="0">
                <a:latin typeface="Sylfaen" pitchFamily="18" charset="0"/>
              </a:rPr>
              <a:t>Mixed Data Types</a:t>
            </a:r>
          </a:p>
          <a:p>
            <a:pPr marL="742950" lvl="1" indent="-228600">
              <a:buFont typeface="Arial" panose="020B0604020202020204" pitchFamily="34" charset="0"/>
              <a:buChar char="•"/>
            </a:pPr>
            <a:r>
              <a:rPr lang="en-US" dirty="0">
                <a:latin typeface="Sylfaen" pitchFamily="18" charset="0"/>
              </a:rPr>
              <a:t>Many of the numerical values in the dataset are recorded as percentages and not whole numbers leading to some confusion &amp; difficulty with creating visualizations</a:t>
            </a:r>
          </a:p>
          <a:p>
            <a:pPr marL="285750" indent="-228600">
              <a:buFont typeface="Arial" panose="020B0604020202020204" pitchFamily="34" charset="0"/>
              <a:buChar char="•"/>
            </a:pPr>
            <a:r>
              <a:rPr lang="en-US" sz="1400" dirty="0">
                <a:latin typeface="Sylfaen" pitchFamily="18" charset="0"/>
              </a:rPr>
              <a:t>Missing Values</a:t>
            </a:r>
          </a:p>
          <a:p>
            <a:pPr marL="742950" lvl="1" indent="-228600">
              <a:buFont typeface="Arial" panose="020B0604020202020204" pitchFamily="34" charset="0"/>
              <a:buChar char="•"/>
            </a:pPr>
            <a:r>
              <a:rPr lang="en-US" dirty="0">
                <a:latin typeface="Sylfaen" pitchFamily="18" charset="0"/>
              </a:rPr>
              <a:t>As the data is recorded from all countries/territories a lot of information is not recorded</a:t>
            </a:r>
          </a:p>
          <a:p>
            <a:pPr marL="285750" indent="-228600">
              <a:buFont typeface="Arial" panose="020B0604020202020204" pitchFamily="34" charset="0"/>
              <a:buChar char="•"/>
            </a:pPr>
            <a:r>
              <a:rPr lang="en-US" sz="1400" dirty="0">
                <a:latin typeface="Sylfaen" pitchFamily="18" charset="0"/>
              </a:rPr>
              <a:t>Minor Details</a:t>
            </a:r>
          </a:p>
          <a:p>
            <a:pPr marL="742950" lvl="1" indent="-228600">
              <a:buFont typeface="Arial" panose="020B0604020202020204" pitchFamily="34" charset="0"/>
              <a:buChar char="•"/>
            </a:pPr>
            <a:r>
              <a:rPr lang="en-US" dirty="0">
                <a:latin typeface="Sylfaen" pitchFamily="18" charset="0"/>
              </a:rPr>
              <a:t>The world column skews the data when creating visualizations because it includes global totals, affecting the max, min, </a:t>
            </a:r>
            <a:r>
              <a:rPr lang="en-US" dirty="0" err="1">
                <a:latin typeface="Sylfaen" pitchFamily="18" charset="0"/>
              </a:rPr>
              <a:t>etc</a:t>
            </a:r>
            <a:r>
              <a:rPr lang="en-US" dirty="0">
                <a:latin typeface="Sylfaen" pitchFamily="18" charset="0"/>
              </a:rPr>
              <a:t>…</a:t>
            </a:r>
          </a:p>
        </p:txBody>
      </p:sp>
      <p:pic>
        <p:nvPicPr>
          <p:cNvPr id="7" name="Picture 6" descr="Colorful charts and graphs">
            <a:extLst>
              <a:ext uri="{FF2B5EF4-FFF2-40B4-BE49-F238E27FC236}">
                <a16:creationId xmlns:a16="http://schemas.microsoft.com/office/drawing/2014/main" id="{EE3BC388-4379-A7AC-38A5-D1202AF2EB80}"/>
              </a:ext>
            </a:extLst>
          </p:cNvPr>
          <p:cNvPicPr>
            <a:picLocks noChangeAspect="1"/>
          </p:cNvPicPr>
          <p:nvPr/>
        </p:nvPicPr>
        <p:blipFill>
          <a:blip r:embed="rId2"/>
          <a:srcRect l="20219" r="16116" b="-1"/>
          <a:stretch>
            <a:fillRect/>
          </a:stretch>
        </p:blipFill>
        <p:spPr>
          <a:xfrm>
            <a:off x="5650992" y="10"/>
            <a:ext cx="6541008" cy="6857990"/>
          </a:xfrm>
          <a:prstGeom prst="rect">
            <a:avLst/>
          </a:prstGeom>
        </p:spPr>
      </p:pic>
    </p:spTree>
    <p:extLst>
      <p:ext uri="{BB962C8B-B14F-4D97-AF65-F5344CB8AC3E}">
        <p14:creationId xmlns:p14="http://schemas.microsoft.com/office/powerpoint/2010/main" val="2692376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860</TotalTime>
  <Words>319</Words>
  <Application>Microsoft Macintosh PowerPoint</Application>
  <PresentationFormat>Widescreen</PresentationFormat>
  <Paragraphs>28</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Aptos Display</vt:lpstr>
      <vt:lpstr>Arial</vt:lpstr>
      <vt:lpstr>Sylfaen</vt:lpstr>
      <vt:lpstr>Wingdings</vt:lpstr>
      <vt:lpstr>Office Theme</vt:lpstr>
      <vt:lpstr>Group 4 – Civil Leaders</vt:lpstr>
      <vt:lpstr>Dataset</vt:lpstr>
      <vt:lpstr>PowerPoint Presentation</vt:lpstr>
      <vt:lpstr>Wrangling Process</vt:lpstr>
      <vt:lpstr>PowerPoint Presentation</vt:lpstr>
      <vt:lpstr>Key Insights</vt:lpstr>
      <vt:lpstr>Issues with the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4 – Civil Leaders</dc:title>
  <dc:creator>Peoples-hobson, Vaughn</dc:creator>
  <cp:lastModifiedBy>Chelsea Mason</cp:lastModifiedBy>
  <cp:revision>9</cp:revision>
  <dcterms:created xsi:type="dcterms:W3CDTF">2025-11-17T01:52:16Z</dcterms:created>
  <dcterms:modified xsi:type="dcterms:W3CDTF">2025-12-04T04:09:27Z</dcterms:modified>
</cp:coreProperties>
</file>